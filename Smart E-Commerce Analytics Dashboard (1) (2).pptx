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9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0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917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9100" y="1625947"/>
            <a:ext cx="3733800" cy="2952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9750" y="4622452"/>
            <a:ext cx="2000250" cy="609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0500" y="4622452"/>
            <a:ext cx="2000250" cy="609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4622452"/>
            <a:ext cx="2000250" cy="609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0" y="4622452"/>
            <a:ext cx="2000250" cy="609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45406" y="2149822"/>
            <a:ext cx="9501187" cy="1154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484"/>
              </a:lnSpc>
            </a:pPr>
            <a:r>
              <a:rPr sz="3900" b="0" i="0" u="none" dirty="0">
                <a:solidFill>
                  <a:srgbClr val="F8FAFC"/>
                </a:solidFill>
                <a:latin typeface="Poppins SemiBold"/>
              </a:rPr>
              <a:t>Smart </a:t>
            </a:r>
            <a:r>
              <a:rPr lang="en-US" sz="3900" b="0" i="0" u="none" dirty="0" err="1">
                <a:solidFill>
                  <a:srgbClr val="F8FAFC"/>
                </a:solidFill>
                <a:latin typeface="Poppins SemiBold"/>
              </a:rPr>
              <a:t>Bussiness</a:t>
            </a:r>
            <a:r>
              <a:rPr lang="en-US" sz="3900" b="0" i="0" u="none" dirty="0">
                <a:solidFill>
                  <a:srgbClr val="F8FAFC"/>
                </a:solidFill>
                <a:latin typeface="Poppins SemiBold"/>
              </a:rPr>
              <a:t> </a:t>
            </a:r>
            <a:r>
              <a:rPr sz="3900" b="0" i="0" u="none" dirty="0">
                <a:solidFill>
                  <a:srgbClr val="F8FAFC"/>
                </a:solidFill>
                <a:latin typeface="Poppins SemiBold"/>
              </a:rPr>
              <a:t>Analytics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47875" y="3479452"/>
            <a:ext cx="80962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Inter"/>
              </a:rPr>
              <a:t>Integrating Python Machine Learning Pipeline with Power BI Visualizations for Advanced Forward-Looking Enterprise Demand Insights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3575" y="4746277"/>
            <a:ext cx="17526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E2E8F0"/>
                </a:solidFill>
                <a:latin typeface="Inter SemiBold"/>
              </a:rPr>
              <a:t>Bhanu Prakash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33575" y="4965352"/>
            <a:ext cx="17526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38BDF8"/>
                </a:solidFill>
                <a:latin typeface="monospace"/>
              </a:rPr>
              <a:t>2420030365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24325" y="4746277"/>
            <a:ext cx="17526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E2E8F0"/>
                </a:solidFill>
                <a:latin typeface="Inter SemiBold"/>
              </a:rPr>
              <a:t>Prabhuling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24325" y="4965352"/>
            <a:ext cx="17526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38BDF8"/>
                </a:solidFill>
                <a:latin typeface="monospace"/>
              </a:rPr>
              <a:t>2420030396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15075" y="4746277"/>
            <a:ext cx="17526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E2E8F0"/>
                </a:solidFill>
                <a:latin typeface="Inter SemiBold"/>
              </a:rPr>
              <a:t>Pavan Teja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15075" y="4965352"/>
            <a:ext cx="17526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38BDF8"/>
                </a:solidFill>
                <a:latin typeface="monospace"/>
              </a:rPr>
              <a:t>2420030497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5825" y="4746277"/>
            <a:ext cx="17526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E2E8F0"/>
                </a:solidFill>
                <a:latin typeface="Inter SemiBold"/>
              </a:rPr>
              <a:t>Vasari Poojan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5825" y="4965352"/>
            <a:ext cx="17526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38BDF8"/>
                </a:solidFill>
                <a:latin typeface="monospace"/>
              </a:rPr>
              <a:t>2420030436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40322"/>
            <a:ext cx="5353050" cy="289158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450" y="2340322"/>
            <a:ext cx="5353050" cy="289158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85825" y="2654647"/>
            <a:ext cx="4960620" cy="266700"/>
          </a:xfrm>
          <a:prstGeom prst="rect">
            <a:avLst/>
          </a:prstGeom>
          <a:noFill/>
        </p:spPr>
        <p:txBody>
          <a:bodyPr wrap="square" lIns="28575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8BDF8"/>
                </a:solidFill>
                <a:latin typeface="Plus Jakarta Sans SemiBold"/>
              </a:rP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5825" y="3035647"/>
            <a:ext cx="4724400" cy="7085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Enterprise e-commerce organizations struggle to make timely, forward-looking operational decisions due to reliance on legacy Business Intelligence (BI) dashboards.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858517"/>
            <a:ext cx="4724400" cy="944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These legacy systems operate primarily on static, backward-looking descriptive metrics, leaving businesses unable to accurately anticipate demand shifts, stockouts, or customer churn.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1775" y="2654647"/>
            <a:ext cx="4960620" cy="266700"/>
          </a:xfrm>
          <a:prstGeom prst="rect">
            <a:avLst/>
          </a:prstGeom>
          <a:noFill/>
        </p:spPr>
        <p:txBody>
          <a:bodyPr wrap="square" lIns="28575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8BDF8"/>
                </a:solidFill>
                <a:latin typeface="Plus Jakarta Sans SemiBold"/>
              </a:rPr>
              <a:t>Identified Legacy Gaps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1775" y="3035647"/>
            <a:ext cx="4724400" cy="472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1" i="0" u="none">
                <a:solidFill>
                  <a:srgbClr val="94A3B8"/>
                </a:solidFill>
                <a:latin typeface="Inter"/>
              </a:rPr>
              <a:t>Static Focus:</a:t>
            </a:r>
            <a:r>
              <a:rPr sz="1200" b="0" i="0" u="none">
                <a:solidFill>
                  <a:srgbClr val="94A3B8"/>
                </a:solidFill>
                <a:latin typeface="Inter"/>
              </a:rPr>
              <a:t> Strict historical tracking with zero native capability for time-series forecasting or non-linear demand modeling.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1775" y="3622327"/>
            <a:ext cx="4724400" cy="472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1" i="0" u="none">
                <a:solidFill>
                  <a:srgbClr val="94A3B8"/>
                </a:solidFill>
                <a:latin typeface="Inter"/>
              </a:rPr>
              <a:t>Data Latency:</a:t>
            </a:r>
            <a:r>
              <a:rPr sz="1200" b="0" i="0" u="none">
                <a:solidFill>
                  <a:srgbClr val="94A3B8"/>
                </a:solidFill>
                <a:latin typeface="Inter"/>
              </a:rPr>
              <a:t> Manual CSV spreadsheet operations introduce human error, reporting bottlenecks, and stale inventory views.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1775" y="4209008"/>
            <a:ext cx="4724400" cy="472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1" i="0" u="none">
                <a:solidFill>
                  <a:srgbClr val="94A3B8"/>
                </a:solidFill>
                <a:latin typeface="Inter"/>
              </a:rPr>
              <a:t>Cost &amp; Performance:</a:t>
            </a:r>
            <a:r>
              <a:rPr sz="1200" b="0" i="0" u="none">
                <a:solidFill>
                  <a:srgbClr val="94A3B8"/>
                </a:solidFill>
                <a:latin typeface="Inter"/>
              </a:rPr>
              <a:t> Cloud ML add-ons carry heavy per-user licensing fees, while client-side calculations cause lag.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" y="2692747"/>
            <a:ext cx="209550" cy="2095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1775" y="2692747"/>
            <a:ext cx="209550" cy="2095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F8FAFC"/>
                </a:solidFill>
                <a:latin typeface="Plus Jakarta Sans"/>
              </a:rPr>
              <a:t>Problem Statement &amp; Legacy Gaps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77504"/>
            <a:ext cx="3530649" cy="321736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177504"/>
            <a:ext cx="3530649" cy="321736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177504"/>
            <a:ext cx="3530649" cy="321736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2472779"/>
            <a:ext cx="571500" cy="571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6775" y="3234779"/>
            <a:ext cx="3087104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8FAFC"/>
                </a:solidFill>
                <a:latin typeface="Plus Jakarta Sans SemiBold"/>
              </a:rPr>
              <a:t>Automated Integration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568154"/>
            <a:ext cx="2940099" cy="14171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Build an automated multi-source ETL pipeline using Python (Pandas, SQLAlchemy) and PostgreSQL Star Schema to eliminate manual CSV handling and lower query latency under 2.0s.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6024" y="2472779"/>
            <a:ext cx="571500" cy="571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26024" y="3234779"/>
            <a:ext cx="3087104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8FAFC"/>
                </a:solidFill>
                <a:latin typeface="Plus Jakarta Sans SemiBold"/>
              </a:rPr>
              <a:t>Predictive ML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6024" y="3568154"/>
            <a:ext cx="2940099" cy="11809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Embed open-source Machine Learning models—Meta Prophet for demand forecasting and XGBoost/Random Forest for churn scoring—improving demand precision by over 20%.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5274" y="2472779"/>
            <a:ext cx="571500" cy="571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85274" y="3234779"/>
            <a:ext cx="3087104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8FAFC"/>
                </a:solidFill>
                <a:latin typeface="Plus Jakarta Sans SemiBold"/>
              </a:rPr>
              <a:t>Real-Time Governance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5274" y="3568154"/>
            <a:ext cx="2940099" cy="11809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Construct dynamic Power BI dashboards with automated alert triggers for stock drops, integrated Row-Level Security (RLS), and end-to-end TLS encryption with $0 extra software cost.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0125" y="2587079"/>
            <a:ext cx="304800" cy="3429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40324" y="2587079"/>
            <a:ext cx="342900" cy="3429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99574" y="2587079"/>
            <a:ext cx="342900" cy="3429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F8FAFC"/>
                </a:solidFill>
                <a:latin typeface="Plus Jakarta Sans"/>
              </a:rPr>
              <a:t>Key Project Objectives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58590"/>
            <a:ext cx="11049000" cy="3455193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1025" y="2068115"/>
          <a:ext cx="11029948" cy="34361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9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05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3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164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7228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8FAFC"/>
                          </a:solidFill>
                          <a:latin typeface="Plus Jakarta Sans SemiBold"/>
                        </a:rPr>
                        <a:t>Author &amp; Year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8FAFC"/>
                          </a:solidFill>
                          <a:latin typeface="Plus Jakarta Sans SemiBold"/>
                        </a:rPr>
                        <a:t>Methodology / Focus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8FAFC"/>
                          </a:solidFill>
                          <a:latin typeface="Plus Jakarta Sans SemiBold"/>
                        </a:rPr>
                        <a:t>Key Empirical Findings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8FAFC"/>
                          </a:solidFill>
                          <a:latin typeface="Plus Jakarta Sans SemiBold"/>
                        </a:rPr>
                        <a:t>Identified Gaps Refined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7228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CBD5E1"/>
                          </a:solidFill>
                          <a:latin typeface="Inter"/>
                        </a:rPr>
                        <a:t>Chen et al. (2021)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Inter"/>
                        </a:rPr>
                        <a:t>Python ML + Legacy BI Frameworks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Inter"/>
                        </a:rPr>
                        <a:t>Forecast accuracy increased by +24% over static BI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Inter"/>
                        </a:rPr>
                        <a:t>High computational latency in client-side recalculations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7228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CBD5E1"/>
                          </a:solidFill>
                          <a:latin typeface="Inter"/>
                        </a:rPr>
                        <a:t>Kumar &amp; Verma (2022)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Inter"/>
                        </a:rPr>
                        <a:t>Power BI vs. Tableau Streaming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Inter"/>
                        </a:rPr>
                        <a:t>Power BI demonstrated superior DAX execution speed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Inter"/>
                        </a:rPr>
                        <a:t>Lacked built-in custom ML modeling engines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7228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CBD5E1"/>
                          </a:solidFill>
                          <a:latin typeface="Inter"/>
                        </a:rPr>
                        <a:t>Ahmad &amp; Zhang (2023)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Inter"/>
                        </a:rPr>
                        <a:t>Automated Sentiment Pipelines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Inter"/>
                        </a:rPr>
                        <a:t>Real-time tagging accelerated customer churn response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Inter"/>
                        </a:rPr>
                        <a:t>Scalability constraints on unindexed local data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7231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CBD5E1"/>
                          </a:solidFill>
                          <a:latin typeface="Inter"/>
                        </a:rPr>
                        <a:t>Patel et al. (2024)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Inter"/>
                        </a:rPr>
                        <a:t>Serverless Python APIs + Cloud Datasets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Inter"/>
                        </a:rPr>
                        <a:t>Reduced dashboard render latency by 40%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Inter"/>
                        </a:rPr>
                        <a:t>Complex multi-cloud deployment orchestration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81025" y="2589609"/>
            <a:ext cx="169961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0642" y="2589609"/>
            <a:ext cx="263053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911179" y="2589609"/>
            <a:ext cx="338330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94489" y="2589609"/>
            <a:ext cx="331648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81025" y="3317081"/>
            <a:ext cx="169961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280642" y="3317081"/>
            <a:ext cx="263053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911179" y="3317081"/>
            <a:ext cx="338330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94489" y="3317081"/>
            <a:ext cx="331648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81025" y="4044553"/>
            <a:ext cx="169961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280642" y="4044553"/>
            <a:ext cx="263053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911179" y="4044553"/>
            <a:ext cx="338330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94489" y="4044553"/>
            <a:ext cx="331648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81025" y="4772025"/>
            <a:ext cx="169961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280642" y="4772025"/>
            <a:ext cx="263053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911179" y="4772025"/>
            <a:ext cx="338330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294489" y="4772025"/>
            <a:ext cx="331648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F8FAFC"/>
                </a:solidFill>
                <a:latin typeface="Plus Jakarta Sans"/>
              </a:rPr>
              <a:t>Empirical Literature Benchmarking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44141"/>
            <a:ext cx="5429250" cy="174679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0" y="1944141"/>
            <a:ext cx="5429250" cy="174679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81437"/>
            <a:ext cx="5429250" cy="174679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3881437"/>
            <a:ext cx="5429250" cy="17467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6775" y="2239416"/>
            <a:ext cx="5080635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8FAFC"/>
                </a:solidFill>
                <a:latin typeface="Plus Jakarta Sans SemiBold"/>
              </a:rPr>
              <a:t>1. Automated Multi-Source ETL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2572791"/>
            <a:ext cx="4838700" cy="472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Python connectors ingest transactional logs, order queues, and CRM profiles via Pandas &amp; SQLAlchemy directly from raw storage.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6525" y="2239416"/>
            <a:ext cx="5080635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8FAFC"/>
                </a:solidFill>
                <a:latin typeface="Plus Jakarta Sans SemiBold"/>
              </a:rPr>
              <a:t>2. Preprocessing &amp; Feature Scaling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6525" y="2572791"/>
            <a:ext cx="4838700" cy="7085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Automated outlier detection, missing value imputations, and feature engineering for promotional indicators and seasonal spikes.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6775" y="4176712"/>
            <a:ext cx="5080635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8FAFC"/>
                </a:solidFill>
                <a:latin typeface="Plus Jakarta Sans SemiBold"/>
              </a:rPr>
              <a:t>3. Star Schema Data Warehouse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6775" y="4510087"/>
            <a:ext cx="4838700" cy="472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Cleaned datasets loaded into PostgreSQL, optimizing Fact Orders and Dimension tables for sub-second DAX execution.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6525" y="4176712"/>
            <a:ext cx="5080635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8FAFC"/>
                </a:solidFill>
                <a:latin typeface="Plus Jakarta Sans SemiBold"/>
              </a:rPr>
              <a:t>4. Power BI Direct Integration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6525" y="4510087"/>
            <a:ext cx="4838700" cy="7085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Power Query consumes structured warehouse tables to render real-time KPIs, dynamic drill-downs, and automated visual updates.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F8FAFC"/>
                </a:solidFill>
                <a:latin typeface="Plus Jakarta Sans"/>
              </a:rPr>
              <a:t>Solution Architecture &amp; Hybrid Pipeline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13694"/>
            <a:ext cx="3530649" cy="274498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413694"/>
            <a:ext cx="3530649" cy="274498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413694"/>
            <a:ext cx="3530649" cy="274498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2708969"/>
            <a:ext cx="571500" cy="571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6775" y="3470969"/>
            <a:ext cx="3087104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8FAFC"/>
                </a:solidFill>
                <a:latin typeface="Plus Jakarta Sans SemiBold"/>
              </a:rPr>
              <a:t>Meta Prophet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804344"/>
            <a:ext cx="2940099" cy="944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Captures complex non-linear weekly and annual seasonality, holiday surges, and promotional discount spikes with high temporal accuracy.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6024" y="2708969"/>
            <a:ext cx="571500" cy="571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26024" y="3470969"/>
            <a:ext cx="3087104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8FAFC"/>
                </a:solidFill>
                <a:latin typeface="Plus Jakarta Sans SemiBold"/>
              </a:rPr>
              <a:t>XGBoost Regressor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6024" y="3804344"/>
            <a:ext cx="2940099" cy="944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Models multi-variable feature dependencies including price elasticity, customer acquisition cost (CAC), and channel ad-spend efficiency.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5274" y="2708969"/>
            <a:ext cx="571500" cy="571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85274" y="3470969"/>
            <a:ext cx="3087104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8FAFC"/>
                </a:solidFill>
                <a:latin typeface="Plus Jakarta Sans SemiBold"/>
              </a:rPr>
              <a:t>Random Forest Churn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5274" y="3804344"/>
            <a:ext cx="2940099" cy="944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Calculates individual customer churn probability scores based on purchase frequency, recency, and average order value (AOV) drops.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1075" y="2823269"/>
            <a:ext cx="342900" cy="3429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97462" y="2823269"/>
            <a:ext cx="428625" cy="3429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56711" y="2823269"/>
            <a:ext cx="428625" cy="3429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F8FAFC"/>
                </a:solidFill>
                <a:latin typeface="Plus Jakarta Sans"/>
              </a:rPr>
              <a:t>Predictive ML Engine Modules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450" y="1976437"/>
            <a:ext cx="5353050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6975" y="1985962"/>
            <a:ext cx="5334000" cy="36004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1976437"/>
            <a:ext cx="5010150" cy="472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F8FAFC"/>
                </a:solidFill>
                <a:latin typeface="Inter SemiBold"/>
              </a:rPr>
              <a:t>Automated Background Inspection: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Python scripts continually inspect live inventory logs and flag anomalous order drop-offs.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20267"/>
            <a:ext cx="5010150" cy="472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F8FAFC"/>
                </a:solidFill>
                <a:latin typeface="Inter SemiBold"/>
              </a:rPr>
              <a:t>Proactive Alert System: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Instant alert triggers highlight potential stockouts and expenditure spikes directly inside the dashboard.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64098"/>
            <a:ext cx="5010150" cy="472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F8FAFC"/>
                </a:solidFill>
                <a:latin typeface="Inter SemiBold"/>
              </a:rPr>
              <a:t>Automated CRM Retention: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High-risk churn profiles are pushed directly to targeted campaigns before customer attrition occurs.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07928"/>
            <a:ext cx="5010150" cy="472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F8FAFC"/>
                </a:solidFill>
                <a:latin typeface="Inter SemiBold"/>
              </a:rPr>
              <a:t>Reduced Response Latency: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Replaces weekly manual reviews with immediate operational responsiveness.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990725"/>
            <a:ext cx="171450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634555"/>
            <a:ext cx="19050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278385"/>
            <a:ext cx="238125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3922216"/>
            <a:ext cx="190500" cy="2000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F8FAFC"/>
                </a:solidFill>
                <a:latin typeface="Plus Jakarta Sans"/>
              </a:rPr>
              <a:t>Real-Time Operational Intelligence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90837"/>
            <a:ext cx="2590800" cy="1790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0900" y="2890837"/>
            <a:ext cx="2590800" cy="1790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300" y="2890837"/>
            <a:ext cx="2590800" cy="1790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9700" y="2890837"/>
            <a:ext cx="2590800" cy="1790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8712" y="3281362"/>
            <a:ext cx="1476375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900"/>
              </a:lnSpc>
            </a:pPr>
            <a:r>
              <a:rPr sz="3900" b="0" i="0" u="none">
                <a:solidFill>
                  <a:srgbClr val="38BDF8"/>
                </a:solidFill>
                <a:latin typeface="Plus Jakarta Sans ExtraBold"/>
              </a:rPr>
              <a:t>+24%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95387" y="3890962"/>
            <a:ext cx="13430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F8FAFC"/>
                </a:solidFill>
                <a:latin typeface="Inter SemiBold"/>
              </a:rPr>
              <a:t>Forecast Precision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662" y="4138612"/>
            <a:ext cx="15144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Inter"/>
              </a:rPr>
              <a:t>Improvement vs legacy BI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6687" y="3281362"/>
            <a:ext cx="1419225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900"/>
              </a:lnSpc>
            </a:pPr>
            <a:r>
              <a:rPr sz="3900" b="0" i="0" u="none">
                <a:solidFill>
                  <a:srgbClr val="38BDF8"/>
                </a:solidFill>
                <a:latin typeface="Plus Jakarta Sans ExtraBold"/>
              </a:rP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90987" y="3890962"/>
            <a:ext cx="11906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F8FAFC"/>
                </a:solidFill>
                <a:latin typeface="Inter SemiBold"/>
              </a:rPr>
              <a:t>ETL Automation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00487" y="4138612"/>
            <a:ext cx="15716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Inter"/>
              </a:rPr>
              <a:t>Zero manual CSV handling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91325" y="3281362"/>
            <a:ext cx="142875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900"/>
              </a:lnSpc>
            </a:pPr>
            <a:r>
              <a:rPr sz="3900" b="0" i="0" u="none">
                <a:solidFill>
                  <a:srgbClr val="38BDF8"/>
                </a:solidFill>
                <a:latin typeface="Plus Jakarta Sans ExtraBold"/>
              </a:rPr>
              <a:t>&lt;2.0s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77062" y="3890962"/>
            <a:ext cx="10572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F8FAFC"/>
                </a:solidFill>
                <a:latin typeface="Inter SemiBold"/>
              </a:rPr>
              <a:t>Query Latency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7025" y="4138612"/>
            <a:ext cx="1657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Inter"/>
              </a:rPr>
              <a:t>Optimized Star Schema DAX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48837" y="3205162"/>
            <a:ext cx="1152525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900"/>
              </a:lnSpc>
            </a:pPr>
            <a:r>
              <a:rPr sz="3900" b="0" i="0" u="none">
                <a:solidFill>
                  <a:srgbClr val="38BDF8"/>
                </a:solidFill>
                <a:latin typeface="Plus Jakarta Sans ExtraBold"/>
              </a:rPr>
              <a:t>85%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39312" y="3814762"/>
            <a:ext cx="11715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F8FAFC"/>
                </a:solidFill>
                <a:latin typeface="Inter SemiBold"/>
              </a:rPr>
              <a:t>Churn Precision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67825" y="4062412"/>
            <a:ext cx="21145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Inter"/>
              </a:rPr>
              <a:t>Targeted at-risk segment identification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F8FAFC"/>
                </a:solidFill>
                <a:latin typeface="Plus Jakarta Sans"/>
              </a:rPr>
              <a:t>Key Performance Benchmarks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190625"/>
            <a:ext cx="11049000" cy="51911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6337" y="5239642"/>
            <a:ext cx="9839325" cy="48384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4462" y="5401567"/>
            <a:ext cx="152400" cy="152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F8FAFC"/>
                </a:solidFill>
                <a:latin typeface="Plus Jakarta Sans"/>
              </a:rPr>
              <a:t>12-Month Demand &amp; Revenue Forecast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58491"/>
            <a:ext cx="5353050" cy="265539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450" y="2458491"/>
            <a:ext cx="5353050" cy="265539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85825" y="2772816"/>
            <a:ext cx="4960620" cy="266700"/>
          </a:xfrm>
          <a:prstGeom prst="rect">
            <a:avLst/>
          </a:prstGeom>
          <a:noFill/>
        </p:spPr>
        <p:txBody>
          <a:bodyPr wrap="square" lIns="28575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8BDF8"/>
                </a:solidFill>
                <a:latin typeface="Plus Jakarta Sans SemiBold"/>
              </a:rPr>
              <a:t>$0 Additional Software Cost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5825" y="3153816"/>
            <a:ext cx="4724400" cy="7085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1" i="0" u="none">
                <a:solidFill>
                  <a:srgbClr val="94A3B8"/>
                </a:solidFill>
                <a:latin typeface="Inter"/>
              </a:rPr>
              <a:t>Open-Source Core:</a:t>
            </a:r>
            <a:r>
              <a:rPr sz="1200" b="0" i="0" u="none">
                <a:solidFill>
                  <a:srgbClr val="94A3B8"/>
                </a:solidFill>
                <a:latin typeface="Inter"/>
              </a:rPr>
              <a:t> Leverages existing Python packages (Pandas, Scikit-Learn, Prophet) for ML execution without per-user cloud AI add-on costs.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976687"/>
            <a:ext cx="4724400" cy="7085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1" i="0" u="none">
                <a:solidFill>
                  <a:srgbClr val="94A3B8"/>
                </a:solidFill>
                <a:latin typeface="Inter"/>
              </a:rPr>
              <a:t>Infrastructure Reuse:</a:t>
            </a:r>
            <a:r>
              <a:rPr sz="1200" b="0" i="0" u="none">
                <a:solidFill>
                  <a:srgbClr val="94A3B8"/>
                </a:solidFill>
                <a:latin typeface="Inter"/>
              </a:rPr>
              <a:t> Integrates directly into existing corporate Power BI Desktop and PostgreSQL instances for zero marginal expenditure.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1775" y="2772816"/>
            <a:ext cx="4960620" cy="266700"/>
          </a:xfrm>
          <a:prstGeom prst="rect">
            <a:avLst/>
          </a:prstGeom>
          <a:noFill/>
        </p:spPr>
        <p:txBody>
          <a:bodyPr wrap="square" lIns="34290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8BDF8"/>
                </a:solidFill>
                <a:latin typeface="Plus Jakarta Sans SemiBold"/>
              </a:rPr>
              <a:t>Security &amp; Enterprise Governance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1775" y="3153816"/>
            <a:ext cx="4724400" cy="472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1" i="0" u="none">
                <a:solidFill>
                  <a:srgbClr val="94A3B8"/>
                </a:solidFill>
                <a:latin typeface="Inter"/>
              </a:rPr>
              <a:t>Row-Level Security (RLS):</a:t>
            </a:r>
            <a:r>
              <a:rPr sz="1200" b="0" i="0" u="none">
                <a:solidFill>
                  <a:srgbClr val="94A3B8"/>
                </a:solidFill>
                <a:latin typeface="Inter"/>
              </a:rPr>
              <a:t> Restricts regional store managers to departmental data slices.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1775" y="3740497"/>
            <a:ext cx="4724400" cy="472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1" i="0" u="none">
                <a:solidFill>
                  <a:srgbClr val="94A3B8"/>
                </a:solidFill>
                <a:latin typeface="Inter"/>
              </a:rPr>
              <a:t>End-to-End Encryption:</a:t>
            </a:r>
            <a:r>
              <a:rPr sz="1200" b="0" i="0" u="none">
                <a:solidFill>
                  <a:srgbClr val="94A3B8"/>
                </a:solidFill>
                <a:latin typeface="Inter"/>
              </a:rPr>
              <a:t> TLS encryption enforced across Python-SQL pipelines and Power BI service endpoints.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" y="2810916"/>
            <a:ext cx="209550" cy="209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1775" y="2810916"/>
            <a:ext cx="266700" cy="2095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F8FAFC"/>
                </a:solidFill>
                <a:latin typeface="Plus Jakarta Sans"/>
              </a:rPr>
              <a:t>Governance &amp; Operational Feasibility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071937"/>
            <a:ext cx="2541240" cy="104090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7419" y="2459533"/>
            <a:ext cx="2541240" cy="104090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3339" y="4071937"/>
            <a:ext cx="2541240" cy="1232743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9259" y="2267694"/>
            <a:ext cx="2541240" cy="123274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1500" y="3771900"/>
            <a:ext cx="11049000" cy="285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1525" y="4271962"/>
            <a:ext cx="2248249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8BDF8"/>
                </a:solidFill>
                <a:latin typeface="Plus Jakarta Sans SemiBold"/>
              </a:rPr>
              <a:t>W1–W2: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525" y="4529137"/>
            <a:ext cx="2141190" cy="3836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0" i="0" u="none">
                <a:solidFill>
                  <a:srgbClr val="CBD5E1"/>
                </a:solidFill>
                <a:latin typeface="Inter"/>
              </a:rPr>
              <a:t>Requirements gathering &amp; Star Schema data warehouse setup.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7444" y="2659558"/>
            <a:ext cx="2248249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8BDF8"/>
                </a:solidFill>
                <a:latin typeface="Plus Jakarta Sans SemiBold"/>
              </a:rPr>
              <a:t>W3–W6: ETL &amp; 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7444" y="2916733"/>
            <a:ext cx="2141190" cy="3836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0" i="0" u="none">
                <a:solidFill>
                  <a:srgbClr val="CBD5E1"/>
                </a:solidFill>
                <a:latin typeface="Inter"/>
              </a:rPr>
              <a:t>Automated Python ETL engineering &amp; Prophet/XGBoost model training.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3364" y="4271962"/>
            <a:ext cx="2248249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8BDF8"/>
                </a:solidFill>
                <a:latin typeface="Plus Jakarta Sans SemiBold"/>
              </a:rPr>
              <a:t>W7–W10: Power BI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3364" y="4529137"/>
            <a:ext cx="2141190" cy="5755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0" i="0" u="none">
                <a:solidFill>
                  <a:srgbClr val="CBD5E1"/>
                </a:solidFill>
                <a:latin typeface="Inter"/>
              </a:rPr>
              <a:t>Power BI modeling, DAX engine optimization &amp; executive UI development.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79284" y="2467719"/>
            <a:ext cx="2248249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8BDF8"/>
                </a:solidFill>
                <a:latin typeface="Plus Jakarta Sans SemiBold"/>
              </a:rPr>
              <a:t>W11–W12: Deployment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79284" y="2724894"/>
            <a:ext cx="2141190" cy="5755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0" i="0" u="none">
                <a:solidFill>
                  <a:srgbClr val="CBD5E1"/>
                </a:solidFill>
                <a:latin typeface="Inter"/>
              </a:rPr>
              <a:t>RLS security configuration, cloud deployment &amp; User Acceptance Testing.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F8FAFC"/>
                </a:solidFill>
                <a:latin typeface="Plus Jakarta Sans"/>
              </a:rPr>
              <a:t>12-Week Implementation Roadmap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765920" y="3709987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285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601840" y="3709987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285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437759" y="3709987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285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273679" y="3709987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285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5275" y="2209800"/>
            <a:ext cx="1160145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4800" dirty="0">
                <a:solidFill>
                  <a:srgbClr val="F8FAFC"/>
                </a:solidFill>
                <a:latin typeface="Poppins SemiBold"/>
              </a:rPr>
              <a:t>Thank you</a:t>
            </a:r>
            <a:endParaRPr sz="4800" b="0" i="0" u="none" dirty="0">
              <a:solidFill>
                <a:srgbClr val="F8FAFC"/>
              </a:solidFill>
              <a:latin typeface="Poppins Semi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798</Words>
  <Application>Microsoft Office PowerPoint</Application>
  <PresentationFormat>Widescreen</PresentationFormat>
  <Paragraphs>98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Arial</vt:lpstr>
      <vt:lpstr>Calibri</vt:lpstr>
      <vt:lpstr>Inter</vt:lpstr>
      <vt:lpstr>Inter SemiBold</vt:lpstr>
      <vt:lpstr>monospace</vt:lpstr>
      <vt:lpstr>Plus Jakarta Sans</vt:lpstr>
      <vt:lpstr>Plus Jakarta Sans ExtraBold</vt:lpstr>
      <vt:lpstr>Plus Jakarta Sans SemiBold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VASARI POOJAN YADAV</cp:lastModifiedBy>
  <cp:revision>2</cp:revision>
  <dcterms:created xsi:type="dcterms:W3CDTF">2013-01-27T09:14:16Z</dcterms:created>
  <dcterms:modified xsi:type="dcterms:W3CDTF">2026-08-24T08:20:54Z</dcterms:modified>
  <cp:category/>
</cp:coreProperties>
</file>